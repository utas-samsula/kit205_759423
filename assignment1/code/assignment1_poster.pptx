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21396325"/>
  <p:notesSz cx="21396325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3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7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Proto1 Array+BST</c:v>
                </c:pt>
              </c:strCache>
            </c:strRef>
          </c:tx>
          <c:spPr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50k</c:v>
                </c:pt>
                <c:pt idx="4">
                  <c:v>100k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28</c:v>
                </c:pt>
                <c:pt idx="2">
                  <c:v>110</c:v>
                </c:pt>
                <c:pt idx="3">
                  <c:v>2800</c:v>
                </c:pt>
                <c:pt idx="4">
                  <c:v>11200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2A-F945-9872-E884171FA4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Proto2 List+AVL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50k</c:v>
                </c:pt>
                <c:pt idx="4">
                  <c:v>100k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8</c:v>
                </c:pt>
                <c:pt idx="2">
                  <c:v>18</c:v>
                </c:pt>
                <c:pt idx="3">
                  <c:v>95</c:v>
                </c:pt>
                <c:pt idx="4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2A-F945-9872-E884171FA4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AU" b="0" i="0" u="none" strike="noStrike">
                    <a:solidFill>
                      <a:srgbClr val="000000"/>
                    </a:solidFill>
                    <a:latin typeface="Arial"/>
                  </a:rPr>
                  <a:t>n owners inserted (ascending)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AU" b="0" i="0" u="none" strike="noStrike">
                    <a:solidFill>
                      <a:srgbClr val="000000"/>
                    </a:solidFill>
                    <a:latin typeface="Arial"/>
                  </a:rPr>
                  <a:t>Time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Proto1 BST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100</c:v>
                </c:pt>
                <c:pt idx="1">
                  <c:v>1k</c:v>
                </c:pt>
                <c:pt idx="2">
                  <c:v>10k</c:v>
                </c:pt>
                <c:pt idx="3">
                  <c:v>100k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28</c:v>
                </c:pt>
                <c:pt idx="3">
                  <c:v>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7-F94C-BAAC-3750EA33B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Proto2 AVL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100</c:v>
                </c:pt>
                <c:pt idx="1">
                  <c:v>1k</c:v>
                </c:pt>
                <c:pt idx="2">
                  <c:v>10k</c:v>
                </c:pt>
                <c:pt idx="3">
                  <c:v>100k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D7-F94C-BAAC-3750EA33B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AU" b="0" i="0" u="none" strike="noStrike">
                    <a:solidFill>
                      <a:srgbClr val="000000"/>
                    </a:solidFill>
                    <a:latin typeface="Arial"/>
                  </a:rPr>
                  <a:t>n owners in tree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AU" b="0" i="0" u="none" strike="noStrike">
                    <a:solidFill>
                      <a:srgbClr val="000000"/>
                    </a:solidFill>
                    <a:latin typeface="Arial"/>
                  </a:rPr>
                  <a:t>Time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32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2011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Ownership Database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011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Array+BST vs Linked List+AVL Tree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286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Samsul Alam  |  759423  |  </a:t>
            </a: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github.com/utas-samsula/KIT205_759423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231600" y="2743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0" y="2743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3200400"/>
            <a:ext cx="7040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3931920"/>
            <a:ext cx="7040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ownership database tracks the many-to-many relationship between vehicles and their historical owners. A single car may have multiple past owners, and a single person may own multiple cars.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dealerships, DMV systems, and insurance companies all need fast insert and lookup operations on millions of records.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7589520"/>
            <a:ext cx="7040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772668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Model
</a:t>
            </a:r>
            <a:endParaRPr lang="en-US" sz="18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 ←→  Owner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Many-to-many: one car has many owners (history), one owner has many cars (fleet)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implemented: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register_car   • add_owner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print_all_cars (ordered)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print_owners_of_car (ordered)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print_cars_of_owner (many-to-many)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" y="10149840"/>
            <a:ext cx="7040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0287000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Data Structures?
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1 (Array + BST):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gives O(1) indexed access but requires known capacity. BST gives O(log n) insert and inorder traversal gives sorted owners automatically.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2 (Linked List + AVL):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is dynamic — no fixed size needed. AVL tree guarantees O(log n) even in worst case (sorted input) by self-balancing via rotations.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13807440"/>
            <a:ext cx="7040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1394460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Comparison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key difference is behaviour on sorted input:
</a:t>
            </a:r>
            <a:endParaRPr lang="en-US" sz="18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(worst case):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inserts produce a linear chain — O(n) height, O(n) lookup
</a:t>
            </a:r>
            <a:endParaRPr lang="en-US" sz="18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(worst case):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maintain O(log n) height regardless of insert order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0" y="3200400"/>
            <a:ext cx="7040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9560" y="3200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Data Structure Design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0" y="3931920"/>
            <a:ext cx="70408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0" y="40690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1: Array + BST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46720" y="4663440"/>
            <a:ext cx="1645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0" y="4663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CAR001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5349240"/>
            <a:ext cx="1645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5349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CAR002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6035040"/>
            <a:ext cx="1645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0" y="6035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CAR003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6720840"/>
            <a:ext cx="164592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0" y="6720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...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92640" y="498348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972800" y="4800600"/>
            <a:ext cx="54864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0" y="4800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332720" y="5623560"/>
            <a:ext cx="54864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332720" y="5623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1612880" y="5623560"/>
            <a:ext cx="54864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612880" y="5623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109960" y="5303520"/>
            <a:ext cx="0" cy="3200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247120" y="5303520"/>
            <a:ext cx="640080" cy="3200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692640" y="4983480"/>
            <a:ext cx="1280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149840" y="6263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of Owners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(sorted: 100, 200, 300)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795528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search: O(n) — linear array scan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insert: O(log n) avg, O(n) worst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owners: O(n) inorder traversal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O(C + C×O) where C=cars, O=owners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772400" y="8961120"/>
            <a:ext cx="70408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55280" y="9098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2: Linked List + AVL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46720" y="9692640"/>
            <a:ext cx="146304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46720" y="96926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CAR001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509760" y="9692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966960" y="9692640"/>
            <a:ext cx="146304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966960" y="96926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CAR002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430000" y="9692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887200" y="9692640"/>
            <a:ext cx="146304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887200" y="96926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CAR003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144000" y="10561320"/>
            <a:ext cx="59436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44000" y="105613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h=2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58200" y="11475720"/>
            <a:ext cx="59436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58200" y="11475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h=0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829800" y="11475720"/>
            <a:ext cx="59436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29800" y="11475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h=0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326880" y="11109960"/>
            <a:ext cx="0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445752" y="11109960"/>
            <a:ext cx="685800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138160" y="121615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 of Owners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(balanced, h=1 for 3 nodes)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955280" y="1335024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search: O(n) — linked list traversal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insert: O(log n) guaranteed (rotations)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owners: O(n) inorder traversal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O(C + C×O) — no capacity limit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772400" y="15087600"/>
            <a:ext cx="7040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955280" y="1522476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Rotation Example — right-heavy imbalance fixed: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1→2→3 (height 2)    After rotation:  2 (root, h=1)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would keep height 2 forever. AVL rotates to height 1.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5727680" y="3200400"/>
            <a:ext cx="7040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5864840" y="3200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Methodology &amp; Results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15727680" y="3931920"/>
            <a:ext cx="70408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5910560" y="406908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
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add_owner with ascending IDs (1,2,3,...n) — this is worst case for BST since it creates a linear chain. Both prototypes timed using clock() over n insertions into a single car. Lookup test: 10,000 repeated searches for the middle value. All code written in C, timed on Apple M4 (arm64).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727680" y="6309360"/>
            <a:ext cx="7040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5910560" y="6446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Insert Performance (ascending order)</a:t>
            </a:r>
            <a:endParaRPr lang="en-US" sz="1600" dirty="0"/>
          </a:p>
        </p:txBody>
      </p:sp>
      <p:graphicFrame>
        <p:nvGraphicFramePr>
          <p:cNvPr id="70" name="Chart 0"/>
          <p:cNvGraphicFramePr/>
          <p:nvPr/>
        </p:nvGraphicFramePr>
        <p:xfrm>
          <a:off x="15910560" y="69494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1" name="Shape 68"/>
          <p:cNvSpPr/>
          <p:nvPr/>
        </p:nvSpPr>
        <p:spPr>
          <a:xfrm>
            <a:off x="15727680" y="11521440"/>
            <a:ext cx="7040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5910560" y="11658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Lookup Performance (10,000 searches)</a:t>
            </a:r>
            <a:endParaRPr lang="en-US" sz="1600" dirty="0"/>
          </a:p>
        </p:txBody>
      </p:sp>
      <p:graphicFrame>
        <p:nvGraphicFramePr>
          <p:cNvPr id="73" name="Chart 1"/>
          <p:cNvGraphicFramePr/>
          <p:nvPr/>
        </p:nvGraphicFramePr>
        <p:xfrm>
          <a:off x="15910560" y="1216152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4" name="Shape 70"/>
          <p:cNvSpPr/>
          <p:nvPr/>
        </p:nvSpPr>
        <p:spPr>
          <a:xfrm>
            <a:off x="15727680" y="16733520"/>
            <a:ext cx="70408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/>
          <p:nvPr/>
        </p:nvSpPr>
        <p:spPr>
          <a:xfrm>
            <a:off x="15910560" y="168706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Theoretical Complexity Summary</a:t>
            </a:r>
            <a:endParaRPr lang="en-US" sz="16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910560" y="17419320"/>
          <a:ext cx="658368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Proto1 (Array+BST)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Proto2 (List+AVL)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Find car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O(n)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O(n)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Insert owner (avg)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O(log n)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O(log n)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Insert owner (worst)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O(n) — unbalanced!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O(log n) — rotates!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List owners (sorted)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O(n) inorder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O(n) inorder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Max capacity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</a:rPr>
                        <a:t>Fixed (array)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Dynamic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23317200" y="3200400"/>
            <a:ext cx="7040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23454360" y="3200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Conclusion &amp; Reflection</a:t>
            </a:r>
            <a:endParaRPr lang="en-US" sz="2200" dirty="0"/>
          </a:p>
        </p:txBody>
      </p:sp>
      <p:sp>
        <p:nvSpPr>
          <p:cNvPr id="79" name="Shape 74"/>
          <p:cNvSpPr/>
          <p:nvPr/>
        </p:nvSpPr>
        <p:spPr>
          <a:xfrm>
            <a:off x="23317200" y="3931920"/>
            <a:ext cx="7040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23500080" y="406908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For sorted/sequential input (common in databases):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 (Proto2) is 60x faster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100k insertions.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degrades to O(n) while AVL maintains O(log n) — the 5-level deep tree that takes 28ms becomes 17-level deep at 100k.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random data, both perform similarly (O(log n) average).</a:t>
            </a:r>
            <a:endParaRPr lang="en-US" sz="1800" dirty="0"/>
          </a:p>
        </p:txBody>
      </p:sp>
      <p:sp>
        <p:nvSpPr>
          <p:cNvPr id="81" name="Shape 76"/>
          <p:cNvSpPr/>
          <p:nvPr/>
        </p:nvSpPr>
        <p:spPr>
          <a:xfrm>
            <a:off x="23317200" y="7406640"/>
            <a:ext cx="7040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23500080" y="754380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Use Prototype 2 (List + AVL) for production: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capacity — handles growing database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O(log n) regardless of insert order
</a:t>
            </a: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output for free via inorder traversal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Prototype 1 only when max car count is known and insert order is random.</a:t>
            </a:r>
            <a:endParaRPr lang="en-US" sz="1800" dirty="0"/>
          </a:p>
        </p:txBody>
      </p:sp>
      <p:sp>
        <p:nvSpPr>
          <p:cNvPr id="83" name="Shape 78"/>
          <p:cNvSpPr/>
          <p:nvPr/>
        </p:nvSpPr>
        <p:spPr>
          <a:xfrm>
            <a:off x="23317200" y="10698480"/>
            <a:ext cx="70408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79"/>
          <p:cNvSpPr/>
          <p:nvPr/>
        </p:nvSpPr>
        <p:spPr>
          <a:xfrm>
            <a:off x="23500080" y="1083564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This assignment made Big-O analysis real. Theoretical complexity is easy to memorise but seeing BST take 11 seconds vs AVL taking 0.19 seconds for the same task made it concrete.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rotations seemed complex in lectures but implementing them taught me that the logic is just 4 cases and ~20 lines of code. The maintenance overhead is small vs the benefit.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also learned that choosing data structures is about the expected usage pattern — not just the average case.</a:t>
            </a:r>
            <a:endParaRPr lang="en-US" sz="1800" dirty="0"/>
          </a:p>
        </p:txBody>
      </p:sp>
      <p:sp>
        <p:nvSpPr>
          <p:cNvPr id="85" name="Shape 80"/>
          <p:cNvSpPr/>
          <p:nvPr/>
        </p:nvSpPr>
        <p:spPr>
          <a:xfrm>
            <a:off x="23317200" y="14721840"/>
            <a:ext cx="7040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23500080" y="14859000"/>
            <a:ext cx="6675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Car search is O(n) for both — a hash table for cars would reduce this to O(1)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deletion implemented — this would be important for production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store actual car and owner metadata (make, model, name, etc.)</a:t>
            </a:r>
            <a:endParaRPr lang="en-US" sz="1800" dirty="0"/>
          </a:p>
        </p:txBody>
      </p:sp>
      <p:sp>
        <p:nvSpPr>
          <p:cNvPr id="87" name="Shape 82"/>
          <p:cNvSpPr/>
          <p:nvPr/>
        </p:nvSpPr>
        <p:spPr>
          <a:xfrm>
            <a:off x="23317200" y="17190720"/>
            <a:ext cx="70408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/>
          <p:nvPr/>
        </p:nvSpPr>
        <p:spPr>
          <a:xfrm>
            <a:off x="23500080" y="1732788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KIT205 Tutorial materials — linked list, BST, AVL implementations (UTAS, 2026)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UTAS KIT205 Lecture Notes — AVL rotations and Big-O analysis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Cormen et al., Introduction to Algorithms (4th ed.) — AVL tree rotation proofs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AI (Anthropic) — used for initial scaffolding and debugging; all code reviewed and tested personally
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GitHub: github.com/utas-samsula/KIT205_759423</a:t>
            </a:r>
            <a:endParaRPr lang="en-US" sz="1800" dirty="0"/>
          </a:p>
        </p:txBody>
      </p:sp>
      <p:sp>
        <p:nvSpPr>
          <p:cNvPr id="89" name="Shape 84"/>
          <p:cNvSpPr/>
          <p:nvPr/>
        </p:nvSpPr>
        <p:spPr>
          <a:xfrm>
            <a:off x="0" y="20894040"/>
            <a:ext cx="30266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5"/>
          <p:cNvSpPr/>
          <p:nvPr/>
        </p:nvSpPr>
        <p:spPr>
          <a:xfrm>
            <a:off x="274320" y="20894040"/>
            <a:ext cx="2971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KIT205 Data Structures and Algorithms  |  Assignment 1  |  Samsul Alam 759423  |  University of Tasmania  |  May 2026</a:t>
            </a:r>
            <a:endParaRPr lang="en-US" sz="1400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71C8DA8A-F6F1-E2FC-EBA3-D757E3758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9041" y="321733"/>
            <a:ext cx="3921760" cy="22170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1114</Words>
  <Application>Microsoft Macintosh PowerPoint</Application>
  <PresentationFormat>Custom</PresentationFormat>
  <Paragraphs>120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Samsul Alam</cp:lastModifiedBy>
  <cp:revision>2</cp:revision>
  <dcterms:created xsi:type="dcterms:W3CDTF">2026-05-18T07:22:35Z</dcterms:created>
  <dcterms:modified xsi:type="dcterms:W3CDTF">2026-05-18T07:53:45Z</dcterms:modified>
</cp:coreProperties>
</file>