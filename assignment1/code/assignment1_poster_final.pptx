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66640" cy="21396960"/>
  <p:notesSz cx="21396960" cy="302666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Proto1 Array+BST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1k</c:v>
                  </c:pt>
                  <c:pt idx="1">
                    <c:v>5k</c:v>
                  </c:pt>
                  <c:pt idx="2">
                    <c:v>10k</c:v>
                  </c:pt>
                  <c:pt idx="3">
                    <c:v>50k</c:v>
                  </c:pt>
                  <c:pt idx="4">
                    <c:v>100k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117</c:v>
                </c:pt>
                <c:pt idx="2">
                  <c:v>380</c:v>
                </c:pt>
                <c:pt idx="3">
                  <c:v>8523</c:v>
                </c:pt>
                <c:pt idx="4">
                  <c:v>33447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Proto2 List+AVL</c:v>
                </c:pt>
              </c:strCache>
            </c:strRef>
          </c:tx>
          <c:spPr>
            <a:solidFill>
              <a:srgbClr val="16A34A"/>
            </a:solidFill>
            <a:ln w="381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1k</c:v>
                  </c:pt>
                  <c:pt idx="1">
                    <c:v>5k</c:v>
                  </c:pt>
                  <c:pt idx="2">
                    <c:v>10k</c:v>
                  </c:pt>
                  <c:pt idx="3">
                    <c:v>50k</c:v>
                  </c:pt>
                  <c:pt idx="4">
                    <c:v>100k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8</c:v>
                </c:pt>
                <c:pt idx="4">
                  <c:v>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Proto1 BST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1,000</c:v>
                  </c:pt>
                  <c:pt idx="2">
                    <c:v>10,000</c:v>
                  </c:pt>
                  <c:pt idx="3">
                    <c:v>100,000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27</c:v>
                </c:pt>
                <c:pt idx="2">
                  <c:v>311</c:v>
                </c:pt>
                <c:pt idx="3">
                  <c:v>3239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Proto2 AVL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1,000</c:v>
                  </c:pt>
                  <c:pt idx="2">
                    <c:v>10,000</c:v>
                  </c:pt>
                  <c:pt idx="3">
                    <c:v>100,000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2743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828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Ownership Database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011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Array + BST vs Linked List + AVL Tree for Many-to-Many Relationships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286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Samsul Alam  |  759423  |  KIT205 Data Structures and Algorithms  |  github.com/utas-samsula/KIT205_759423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688800" y="182880"/>
            <a:ext cx="502920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017520"/>
            <a:ext cx="68580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017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" y="3703320"/>
            <a:ext cx="68580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79476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ownership database tracks the many-to-many relationship between vehicles and their owners. A single car may have had multiple past owners, and a single person may own multiple cars.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relevant to used car dealerships, DMV registration systems, and insurance companies that need fast insert and lookup across millions of records.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65760" y="6812280"/>
            <a:ext cx="68580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903720"/>
            <a:ext cx="6583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relationship
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 ←→  Owner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register_car, add_owner, print_all_cars (ordered), print_owners_of_car (ordered), print_cars_of_owner (ordered, many-to-many)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760" y="9555480"/>
            <a:ext cx="68580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964692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data structures?
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1  —  Array + BST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provides fixed-capacity storage with simple indexed access. BST stores owners per car with O(log n) average insert. Inorder traversal gives sorted output.
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2  —  Linked List + AVL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is fully dynamic with no size limit. AVL tree guarantees O(log n) insert and lookup even in worst case by self-balancing through rotations.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ascending IDs (sequential registration), BST degrades to O(n) while AVL stays O(log n). This should produce dramatically different performance at scale.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5760" y="14127480"/>
            <a:ext cx="68580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1421892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summary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prototypes pass all 7 unit tests: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P1: 7/7 pass    P2: 7/7 pass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cover: car registration (with duplicates), owner insertion, sorted car listing, sorted owner listing, many-to-many lookup, auto-registration, empty results, and AVL balance verification.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589520" y="3017520"/>
            <a:ext cx="68580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7726680" y="3017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structure design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589520" y="3703320"/>
            <a:ext cx="6858000" cy="640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26680" y="3794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1: Array + BST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863840" y="4389120"/>
            <a:ext cx="1371600" cy="457200"/>
          </a:xfrm>
          <a:prstGeom prst="rect">
            <a:avLst/>
          </a:prstGeom>
          <a:solidFill>
            <a:srgbClr val="E0F2FE"/>
          </a:solidFill>
          <a:ln w="9525">
            <a:solidFill>
              <a:srgbClr val="1A27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CAR001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863840" y="4892040"/>
            <a:ext cx="1371600" cy="457200"/>
          </a:xfrm>
          <a:prstGeom prst="rect">
            <a:avLst/>
          </a:prstGeom>
          <a:solidFill>
            <a:srgbClr val="E0F2FE"/>
          </a:solidFill>
          <a:ln w="9525">
            <a:solidFill>
              <a:srgbClr val="1A27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CAR002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863840" y="5394960"/>
            <a:ext cx="1371600" cy="457200"/>
          </a:xfrm>
          <a:prstGeom prst="rect">
            <a:avLst/>
          </a:prstGeom>
          <a:solidFill>
            <a:srgbClr val="E0F2FE"/>
          </a:solidFill>
          <a:ln w="9525">
            <a:solidFill>
              <a:srgbClr val="1A27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0" y="5394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CAR003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63840" y="5897880"/>
            <a:ext cx="1371600" cy="457200"/>
          </a:xfrm>
          <a:prstGeom prst="rect">
            <a:avLst/>
          </a:prstGeom>
          <a:solidFill>
            <a:srgbClr val="E0F2FE"/>
          </a:solidFill>
          <a:ln w="9525">
            <a:solidFill>
              <a:srgbClr val="1A27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63840" y="5897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...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235440" y="4434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332720" y="4434840"/>
            <a:ext cx="457200" cy="411480"/>
          </a:xfrm>
          <a:prstGeom prst="ellipse">
            <a:avLst/>
          </a:prstGeom>
          <a:solidFill>
            <a:srgbClr val="D97706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332720" y="4434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200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738360" y="5120640"/>
            <a:ext cx="457200" cy="411480"/>
          </a:xfrm>
          <a:prstGeom prst="ellipse">
            <a:avLst/>
          </a:prstGeom>
          <a:solidFill>
            <a:srgbClr val="D97706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38360" y="5120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927080" y="5120640"/>
            <a:ext cx="457200" cy="411480"/>
          </a:xfrm>
          <a:prstGeom prst="ellipse">
            <a:avLst/>
          </a:prstGeom>
          <a:solidFill>
            <a:srgbClr val="D97706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927080" y="5120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469880" y="4846320"/>
            <a:ext cx="-365760" cy="274320"/>
          </a:xfrm>
          <a:prstGeom prst="line">
            <a:avLst/>
          </a:prstGeom>
          <a:noFill/>
          <a:ln w="9525">
            <a:solidFill>
              <a:srgbClr val="1A274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561320" y="4846320"/>
            <a:ext cx="594360" cy="274320"/>
          </a:xfrm>
          <a:prstGeom prst="line">
            <a:avLst/>
          </a:prstGeom>
          <a:noFill/>
          <a:ln w="9525">
            <a:solidFill>
              <a:srgbClr val="1A274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418320" y="5669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of owners (inorder = sorted)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726680" y="722376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car:  O(n) linear scan of array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owner:  O(log n) avg,  O(n) worst case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owners:  O(n) inorder traversal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 O(capacity + total owners)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fixed max capacity, sorted input = degenerate tree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589520" y="10287000"/>
            <a:ext cx="6858000" cy="6766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26680" y="10378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2: Linked List + AVL tree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863840" y="10972800"/>
            <a:ext cx="1188720" cy="457200"/>
          </a:xfrm>
          <a:prstGeom prst="rect">
            <a:avLst/>
          </a:prstGeom>
          <a:solidFill>
            <a:srgbClr val="E0F2FE"/>
          </a:solidFill>
          <a:ln w="9525">
            <a:solidFill>
              <a:srgbClr val="1A274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63840" y="10972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CAR001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052560" y="10972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9418320" y="10972800"/>
            <a:ext cx="1188720" cy="457200"/>
          </a:xfrm>
          <a:prstGeom prst="rect">
            <a:avLst/>
          </a:prstGeom>
          <a:solidFill>
            <a:srgbClr val="E0F2FE"/>
          </a:solidFill>
          <a:ln w="9525">
            <a:solidFill>
              <a:srgbClr val="1A274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418320" y="10972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CAR002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607040" y="10972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0972800" y="10972800"/>
            <a:ext cx="1188720" cy="457200"/>
          </a:xfrm>
          <a:prstGeom prst="rect">
            <a:avLst/>
          </a:prstGeom>
          <a:solidFill>
            <a:srgbClr val="E0F2FE"/>
          </a:solidFill>
          <a:ln w="9525">
            <a:solidFill>
              <a:srgbClr val="1A274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972800" y="10972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CAR003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778240" y="11704320"/>
            <a:ext cx="457200" cy="411480"/>
          </a:xfrm>
          <a:prstGeom prst="ellipse">
            <a:avLst/>
          </a:prstGeom>
          <a:solidFill>
            <a:srgbClr val="16A34A"/>
          </a:solidFill>
          <a:ln w="9525">
            <a:solidFill>
              <a:srgbClr val="065F4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778240" y="11704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200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138160" y="12344400"/>
            <a:ext cx="457200" cy="411480"/>
          </a:xfrm>
          <a:prstGeom prst="ellipse">
            <a:avLst/>
          </a:prstGeom>
          <a:solidFill>
            <a:srgbClr val="16A34A"/>
          </a:solidFill>
          <a:ln w="9525">
            <a:solidFill>
              <a:srgbClr val="065F4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138160" y="1234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418320" y="12344400"/>
            <a:ext cx="457200" cy="411480"/>
          </a:xfrm>
          <a:prstGeom prst="ellipse">
            <a:avLst/>
          </a:prstGeom>
          <a:solidFill>
            <a:srgbClr val="16A34A"/>
          </a:solidFill>
          <a:ln w="9525">
            <a:solidFill>
              <a:srgbClr val="065F4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418320" y="1234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300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8915400" y="12115800"/>
            <a:ext cx="-411480" cy="228600"/>
          </a:xfrm>
          <a:prstGeom prst="line">
            <a:avLst/>
          </a:prstGeom>
          <a:noFill/>
          <a:ln w="9525">
            <a:solidFill>
              <a:srgbClr val="1A274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06840" y="12115800"/>
            <a:ext cx="640080" cy="228600"/>
          </a:xfrm>
          <a:prstGeom prst="line">
            <a:avLst/>
          </a:prstGeom>
          <a:noFill/>
          <a:ln w="9525">
            <a:solidFill>
              <a:srgbClr val="1A274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63840" y="1289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 (balanced, height=1 for 3 nodes)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7726680" y="13441680"/>
            <a:ext cx="6583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balance proof from actual test: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ascending inserts (1,2,3,4,5) — AVL height = 2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inserts in plain BST — height = 4 (degenerate)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car:  O(n) linked list traversal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owner:  O(log n) guaranteed (rotations)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owners:  O(n) inorder traversal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 O(cars + total owners), no capacity limit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15270480" y="3017520"/>
            <a:ext cx="68580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1" name="Text 58"/>
          <p:cNvSpPr/>
          <p:nvPr/>
        </p:nvSpPr>
        <p:spPr>
          <a:xfrm>
            <a:off x="15407640" y="3017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 &amp; results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5270480" y="3703320"/>
            <a:ext cx="68580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5407640" y="379476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add_owner with ascending IDs (1,2,3...n) — worst case for BST. Both prototypes timed with clock(). Lookup test: 10,000 repeated searches for the middle value. Timed on Apple M4 (arm64), compiled with gcc.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15270480" y="5623560"/>
            <a:ext cx="68580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5407640" y="5715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performance — ascending owner IDs</a:t>
            </a:r>
            <a:endParaRPr lang="en-US" sz="1400" dirty="0"/>
          </a:p>
        </p:txBody>
      </p:sp>
      <p:graphicFrame>
        <p:nvGraphicFramePr>
          <p:cNvPr id="66" name="Chart 0" descr=""/>
          <p:cNvGraphicFramePr/>
          <p:nvPr/>
        </p:nvGraphicFramePr>
        <p:xfrm>
          <a:off x="15407640" y="612648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7" name="Shape 63"/>
          <p:cNvSpPr/>
          <p:nvPr/>
        </p:nvSpPr>
        <p:spPr>
          <a:xfrm>
            <a:off x="15270480" y="10195560"/>
            <a:ext cx="68580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15407640" y="10287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performance — 10,000 repeated searches</a:t>
            </a:r>
            <a:endParaRPr lang="en-US" sz="1400" dirty="0"/>
          </a:p>
        </p:txBody>
      </p:sp>
      <p:graphicFrame>
        <p:nvGraphicFramePr>
          <p:cNvPr id="69" name="Chart 1" descr=""/>
          <p:cNvGraphicFramePr/>
          <p:nvPr/>
        </p:nvGraphicFramePr>
        <p:xfrm>
          <a:off x="15407640" y="1069848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0" name="Shape 65"/>
          <p:cNvSpPr/>
          <p:nvPr/>
        </p:nvSpPr>
        <p:spPr>
          <a:xfrm>
            <a:off x="15270480" y="14767560"/>
            <a:ext cx="685800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15407640" y="14859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timing data from actual test run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07640" y="1531620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 owners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BST insert (ms)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AVL insert (ms)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117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380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380x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8,523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1065x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33,447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1967x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3" name="Text 67"/>
          <p:cNvSpPr/>
          <p:nvPr/>
        </p:nvSpPr>
        <p:spPr>
          <a:xfrm>
            <a:off x="15407640" y="1787652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complexity: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sorted insert: O(n) per insert × n = O(n²) total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sorted insert: O(log n) per insert × n = O(n log n) total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22951440" y="3017520"/>
            <a:ext cx="68580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5" name="Text 69"/>
          <p:cNvSpPr/>
          <p:nvPr/>
        </p:nvSpPr>
        <p:spPr>
          <a:xfrm>
            <a:off x="23088600" y="3017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Conclusion &amp; reflection</a:t>
            </a:r>
            <a:endParaRPr lang="en-US" sz="2000" dirty="0"/>
          </a:p>
        </p:txBody>
      </p:sp>
      <p:sp>
        <p:nvSpPr>
          <p:cNvPr id="76" name="Shape 70"/>
          <p:cNvSpPr/>
          <p:nvPr/>
        </p:nvSpPr>
        <p:spPr>
          <a:xfrm>
            <a:off x="22951440" y="3703320"/>
            <a:ext cx="68580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23088600" y="3794760"/>
            <a:ext cx="6583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100,000 ascending owner inserts:
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BST: 33.4 seconds
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AVL: 17 milliseconds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is ~1967x faster in this worst-case scenario.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Lookup: BST took 3,239ms for 10k searches on n=100k tree. AVL rounded to 0ms — too fast to measure.</a:t>
            </a:r>
            <a:endParaRPr lang="en-US" sz="1600" dirty="0"/>
          </a:p>
        </p:txBody>
      </p:sp>
      <p:sp>
        <p:nvSpPr>
          <p:cNvPr id="78" name="Shape 72"/>
          <p:cNvSpPr/>
          <p:nvPr/>
        </p:nvSpPr>
        <p:spPr>
          <a:xfrm>
            <a:off x="22951440" y="7178040"/>
            <a:ext cx="68580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23088600" y="7269480"/>
            <a:ext cx="6583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Prototype 2 (Linked List + AVL) for production systems: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capacity — grows dynamically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guaranteed regardless of insert order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output via inorder traversal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Proto1 is acceptable only when max capacity is known and insert order is random.</a:t>
            </a:r>
            <a:endParaRPr lang="en-US" sz="1600" dirty="0"/>
          </a:p>
        </p:txBody>
      </p:sp>
      <p:sp>
        <p:nvSpPr>
          <p:cNvPr id="80" name="Shape 74"/>
          <p:cNvSpPr/>
          <p:nvPr/>
        </p:nvSpPr>
        <p:spPr>
          <a:xfrm>
            <a:off x="22951440" y="10104120"/>
            <a:ext cx="68580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1" name="Text 75"/>
          <p:cNvSpPr/>
          <p:nvPr/>
        </p:nvSpPr>
        <p:spPr>
          <a:xfrm>
            <a:off x="23088600" y="10195560"/>
            <a:ext cx="6583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made Big-O analysis feel real. Seeing BST take 33 seconds vs AVL taking 17ms for the same operation was more convincing than any lecture slide.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rotations looked complex in the lectures but actually only need 4 cases and about 20 lines of code. The overhead is minimal compared to the guarantee you get.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data structures is about the expected usage pattern, not just the average case. A car registration database will naturally have sequential IDs, making AVL the clear winner.</a:t>
            </a:r>
            <a:endParaRPr lang="en-US" sz="1600" dirty="0"/>
          </a:p>
        </p:txBody>
      </p:sp>
      <p:sp>
        <p:nvSpPr>
          <p:cNvPr id="82" name="Shape 76"/>
          <p:cNvSpPr/>
          <p:nvPr/>
        </p:nvSpPr>
        <p:spPr>
          <a:xfrm>
            <a:off x="22951440" y="1394460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Text 77"/>
          <p:cNvSpPr/>
          <p:nvPr/>
        </p:nvSpPr>
        <p:spPr>
          <a:xfrm>
            <a:off x="23088600" y="1403604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lookup is O(n) for both — a hash table for cars would make it O(1)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deletion implemented yet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extend to store actual car and owner metadata</a:t>
            </a:r>
            <a:endParaRPr lang="en-US" sz="1600" dirty="0"/>
          </a:p>
        </p:txBody>
      </p:sp>
      <p:sp>
        <p:nvSpPr>
          <p:cNvPr id="84" name="Shape 78"/>
          <p:cNvSpPr/>
          <p:nvPr/>
        </p:nvSpPr>
        <p:spPr>
          <a:xfrm>
            <a:off x="22951440" y="16322040"/>
            <a:ext cx="68580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5" name="Text 79"/>
          <p:cNvSpPr/>
          <p:nvPr/>
        </p:nvSpPr>
        <p:spPr>
          <a:xfrm>
            <a:off x="23088600" y="16413480"/>
            <a:ext cx="6583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references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KIT205 tutorial materials — linked list, BST, and AVL tree implementations (UTAS, 2026)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KIT205 lecture notes — AVL rotations, Big-O analysis, algorithm comparison (UTAS, 2026)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Leiserson, Rivest, Stein — Introduction to Algorithms (4th ed.) — BST and AVL tree proofs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 — used for initial code scaffolding and debugging assistance; all code reviewed, tested, and modified personally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github.com/utas-samsula/KIT205_759423</a:t>
            </a:r>
            <a:endParaRPr lang="en-US" sz="1600" dirty="0"/>
          </a:p>
        </p:txBody>
      </p:sp>
      <p:sp>
        <p:nvSpPr>
          <p:cNvPr id="86" name="Shape 80"/>
          <p:cNvSpPr/>
          <p:nvPr/>
        </p:nvSpPr>
        <p:spPr>
          <a:xfrm>
            <a:off x="0" y="20939760"/>
            <a:ext cx="3026664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7" name="Text 81"/>
          <p:cNvSpPr/>
          <p:nvPr/>
        </p:nvSpPr>
        <p:spPr>
          <a:xfrm>
            <a:off x="274320" y="20939760"/>
            <a:ext cx="2971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KIT205 Data Structures and Algorithms  |  Assignment 1  |  Samsul Alam (759423)  |  University of Tasmania  |  May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KIT205 Assignment 1 - Car Ownership Database</dc:title>
  <dc:subject>PptxGenJS Presentation</dc:subject>
  <dc:creator>Samsul Alam</dc:creator>
  <cp:lastModifiedBy>Samsul Alam</cp:lastModifiedBy>
  <cp:revision>1</cp:revision>
  <dcterms:created xsi:type="dcterms:W3CDTF">2026-05-18T11:26:23Z</dcterms:created>
  <dcterms:modified xsi:type="dcterms:W3CDTF">2026-05-18T11:26:23Z</dcterms:modified>
</cp:coreProperties>
</file>